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4630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▣ </a:t>
            </a:r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요약서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10896" y="603504"/>
            <a:ext cx="8522208" cy="32004"/>
          </a:xfrm>
          <a:prstGeom prst="rect">
            <a:avLst/>
          </a:prstGeom>
          <a:solidFill>
            <a:srgbClr val="BFC5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758952"/>
            <a:ext cx="960120" cy="274320"/>
          </a:xfrm>
          <a:prstGeom prst="rect">
            <a:avLst/>
          </a:prstGeom>
          <a:solidFill>
            <a:srgbClr val="E9ECE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75895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정의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0896" y="1088136"/>
            <a:ext cx="1078992" cy="292608"/>
          </a:xfrm>
          <a:prstGeom prst="rect">
            <a:avLst/>
          </a:prstGeom>
          <a:solidFill>
            <a:srgbClr val="D9D9D9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08813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89888" y="1088136"/>
            <a:ext cx="744321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1088136"/>
            <a:ext cx="7260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AI 활용 가이드 포털 구축 및 자동 운영 체계 개발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" y="1380744"/>
            <a:ext cx="1078992" cy="402336"/>
          </a:xfrm>
          <a:prstGeom prst="rect">
            <a:avLst/>
          </a:prstGeom>
          <a:solidFill>
            <a:srgbClr val="D9D9D9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380744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목적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89888" y="1380744"/>
            <a:ext cx="744321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1380744"/>
            <a:ext cx="7260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직군·수준별로 분산된 생성형 AI 활용 지식을 한국어 실무 기준으로 표준화하고, 콘텐츠 수집·작성·검증·배포 전 과정을 AI 에이전트가 자동 수행하도록 하여 최신성이 유지되는 운영 체계를 구축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" y="1783080"/>
            <a:ext cx="1078992" cy="603504"/>
          </a:xfrm>
          <a:prstGeom prst="rect">
            <a:avLst/>
          </a:prstGeom>
          <a:solidFill>
            <a:srgbClr val="D9D9D9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783080"/>
            <a:ext cx="107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89888" y="1783080"/>
            <a:ext cx="744321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1783080"/>
            <a:ext cx="7260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도구·기능의 변경 주기가 짧아 사내 교육자료가 작성 시점부터 노후화되며, 갱신 담당자를 지정하더라도 인력·시간의 지속 투입이 불가피</a:t>
            </a:r>
            <a:endParaRPr lang="en-US" sz="90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 대부분이 영문·개발자(터미널) 환경 기준이라, 윈도우 PC와 웹·앱 환경의 실무 직원이 직접 적용하기 곤란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" y="2386584"/>
            <a:ext cx="1078992" cy="292608"/>
          </a:xfrm>
          <a:prstGeom prst="rect">
            <a:avLst/>
          </a:prstGeom>
          <a:solidFill>
            <a:srgbClr val="D9D9D9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2386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수행조직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89888" y="2386584"/>
            <a:ext cx="33101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9344" y="23865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수행조직 입력 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0016" y="2386584"/>
            <a:ext cx="1005840" cy="292608"/>
          </a:xfrm>
          <a:prstGeom prst="rect">
            <a:avLst/>
          </a:prstGeom>
          <a:solidFill>
            <a:srgbClr val="D9D9D9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23865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05856" y="2386584"/>
            <a:ext cx="31272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25312" y="2386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담당자 입력 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" y="2816352"/>
            <a:ext cx="960120" cy="274320"/>
          </a:xfrm>
          <a:prstGeom prst="rect">
            <a:avLst/>
          </a:prstGeom>
          <a:solidFill>
            <a:srgbClr val="E9ECE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81635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해결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90872" y="2816352"/>
            <a:ext cx="2103120" cy="274320"/>
          </a:xfrm>
          <a:prstGeom prst="rect">
            <a:avLst/>
          </a:prstGeom>
          <a:solidFill>
            <a:srgbClr val="E9ECE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8163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결과(Output 이미지)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10896" y="3172968"/>
            <a:ext cx="4160520" cy="3410712"/>
          </a:xfrm>
          <a:prstGeom prst="roundRect">
            <a:avLst>
              <a:gd name="adj" fmla="val 804"/>
            </a:avLst>
          </a:prstGeom>
          <a:solidFill>
            <a:srgbClr val="FCFDFE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3296412"/>
            <a:ext cx="45720" cy="141732"/>
          </a:xfrm>
          <a:prstGeom prst="rect">
            <a:avLst/>
          </a:prstGeom>
          <a:solidFill>
            <a:srgbClr val="0E9A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264408"/>
            <a:ext cx="3776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— 어떻게 해결하였는지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" y="3502152"/>
            <a:ext cx="3685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가이드를 정적 문서가 아닌 자동 갱신 체계로 설계. 콘텐츠 분류체계와 집필 기준을 기계 판독이 가능한 표준 문서로 정의하고, AI 에이전트가 이를 참조하여 결손 영역을 자동 보완</a:t>
            </a:r>
            <a:endParaRPr lang="en-US" sz="82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관리를 정성 판단에서 정량 지표로 전환. 8개 평가 항목을 코드로 고정하여 전 섹션을 자동 채점하고, 하위 점수 항목을 차기 개선 대상으로 자동 선정</a:t>
            </a:r>
            <a:endParaRPr lang="en-US" sz="82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 오류는 별도 검증 에이전트가 공식 문서·원문 출처와 교차 검증하여 승인·수정·보류를 판정하며, 배포 직전 재평가로 품질 저하를 방지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48056" y="4466844"/>
            <a:ext cx="45720" cy="141732"/>
          </a:xfrm>
          <a:prstGeom prst="rect">
            <a:avLst/>
          </a:prstGeom>
          <a:solidFill>
            <a:srgbClr val="0E9A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434840"/>
            <a:ext cx="3776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단계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675327"/>
            <a:ext cx="138989" cy="138989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675327"/>
            <a:ext cx="138989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68096" y="4663440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 설계 : 13개 분류 영역 및 난이도 3단계 기준 정의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66928" y="4845406"/>
            <a:ext cx="138989" cy="138989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845406"/>
            <a:ext cx="138989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68096" y="4833518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구축 : 입문~심화 7개 영역 개설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66928" y="5015484"/>
            <a:ext cx="138989" cy="138989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5015484"/>
            <a:ext cx="138989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68096" y="5003597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체계 구축 : 수집 → 진단 → 작성 → 검증 → 배포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66928" y="5185562"/>
            <a:ext cx="138989" cy="138989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5185562"/>
            <a:ext cx="138989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68096" y="5173675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관리체계 도입 : 정량 평가 및 개선 우선순위 도출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566928" y="5355641"/>
            <a:ext cx="138989" cy="138989"/>
          </a:xfrm>
          <a:prstGeom prst="ellips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5355641"/>
            <a:ext cx="138989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68096" y="5343754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환경 표준화 : 윈도우·웹/앱 기준 전환, 미준수 항목 자동 검출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448056" y="5618988"/>
            <a:ext cx="45720" cy="141732"/>
          </a:xfrm>
          <a:prstGeom prst="rect">
            <a:avLst/>
          </a:prstGeom>
          <a:solidFill>
            <a:srgbClr val="0E9A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5586984"/>
            <a:ext cx="3776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적용 기술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6928" y="5815584"/>
            <a:ext cx="1778508" cy="214884"/>
          </a:xfrm>
          <a:prstGeom prst="roundRect">
            <a:avLst>
              <a:gd name="adj" fmla="val 8511"/>
            </a:avLst>
          </a:prstGeom>
          <a:solidFill>
            <a:srgbClr val="EAF4F5"/>
          </a:solidFill>
          <a:ln w="7620">
            <a:solidFill>
              <a:srgbClr val="AFD5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" y="5815584"/>
            <a:ext cx="17053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6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AI 에이전트 오케스트레이션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2436876" y="5815584"/>
            <a:ext cx="1778508" cy="214884"/>
          </a:xfrm>
          <a:prstGeom prst="roundRect">
            <a:avLst>
              <a:gd name="adj" fmla="val 8511"/>
            </a:avLst>
          </a:prstGeom>
          <a:solidFill>
            <a:srgbClr val="EAF4F5"/>
          </a:solidFill>
          <a:ln w="7620">
            <a:solidFill>
              <a:srgbClr val="AFD5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73452" y="5815584"/>
            <a:ext cx="17053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6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검증 에이전트 (LLM-as-a-Judge)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566928" y="6048756"/>
            <a:ext cx="1778508" cy="214884"/>
          </a:xfrm>
          <a:prstGeom prst="roundRect">
            <a:avLst>
              <a:gd name="adj" fmla="val 8511"/>
            </a:avLst>
          </a:prstGeom>
          <a:solidFill>
            <a:srgbClr val="EAF4F5"/>
          </a:solidFill>
          <a:ln w="7620">
            <a:solidFill>
              <a:srgbClr val="AFD5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" y="6048756"/>
            <a:ext cx="17053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6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정기 실행 (스케줄링)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2436876" y="6048756"/>
            <a:ext cx="1778508" cy="214884"/>
          </a:xfrm>
          <a:prstGeom prst="roundRect">
            <a:avLst>
              <a:gd name="adj" fmla="val 8511"/>
            </a:avLst>
          </a:prstGeom>
          <a:solidFill>
            <a:srgbClr val="EAF4F5"/>
          </a:solidFill>
          <a:ln w="7620">
            <a:solidFill>
              <a:srgbClr val="AFD5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73452" y="6048756"/>
            <a:ext cx="17053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6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검색 기반 근거 수집·출처 검증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566928" y="6281928"/>
            <a:ext cx="1778508" cy="214884"/>
          </a:xfrm>
          <a:prstGeom prst="roundRect">
            <a:avLst>
              <a:gd name="adj" fmla="val 8511"/>
            </a:avLst>
          </a:prstGeom>
          <a:solidFill>
            <a:srgbClr val="EAF4F5"/>
          </a:solidFill>
          <a:ln w="7620">
            <a:solidFill>
              <a:srgbClr val="AFD5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" y="6281928"/>
            <a:ext cx="17053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6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 컨텍스트 설계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2436876" y="6281928"/>
            <a:ext cx="1778508" cy="214884"/>
          </a:xfrm>
          <a:prstGeom prst="roundRect">
            <a:avLst>
              <a:gd name="adj" fmla="val 8511"/>
            </a:avLst>
          </a:prstGeom>
          <a:solidFill>
            <a:srgbClr val="EAF4F5"/>
          </a:solidFill>
          <a:ln w="7620">
            <a:solidFill>
              <a:srgbClr val="AFD5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73452" y="6281928"/>
            <a:ext cx="17053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6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평가 지표 기반 자동 채점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4690872" y="3172968"/>
            <a:ext cx="566928" cy="749808"/>
          </a:xfrm>
          <a:prstGeom prst="rect">
            <a:avLst/>
          </a:prstGeom>
          <a:solidFill>
            <a:srgbClr val="D9D9D9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90872" y="3172968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257800" y="3172968"/>
            <a:ext cx="3575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49240" y="3255264"/>
            <a:ext cx="4572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최신성 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824728" y="3255264"/>
            <a:ext cx="293522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개입 없이 일 단위 자동 갱신, 교육자료 노후화 문제 해소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349240" y="3451860"/>
            <a:ext cx="4572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접근성 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824728" y="3451860"/>
            <a:ext cx="293522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윈도우·웹/앱 환경 기준으로 재정렬, 비개발 직군도 직접 활용 가능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349240" y="3648456"/>
            <a:ext cx="4572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 :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824728" y="3648456"/>
            <a:ext cx="293522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품질의 정량 관리로 담당자 변경 시에도 산출물 수준 유지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677156" y="4018788"/>
            <a:ext cx="1915668" cy="10683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pic>
        <p:nvPicPr>
          <p:cNvPr id="75" name="Image 0" descr="/tmp/t_up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4032504"/>
            <a:ext cx="1888236" cy="1040924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4636008" y="5091716"/>
            <a:ext cx="19979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A66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 단위 AI 동향 자동 수집·검증</a:t>
            </a:r>
            <a:endParaRPr lang="en-US" sz="740" dirty="0"/>
          </a:p>
        </p:txBody>
      </p:sp>
      <p:sp>
        <p:nvSpPr>
          <p:cNvPr id="77" name="Shape 74"/>
          <p:cNvSpPr/>
          <p:nvPr/>
        </p:nvSpPr>
        <p:spPr>
          <a:xfrm>
            <a:off x="6931152" y="4018788"/>
            <a:ext cx="1915668" cy="10683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pic>
        <p:nvPicPr>
          <p:cNvPr id="78" name="Image 1" descr="/tmp/t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868" y="4032504"/>
            <a:ext cx="1888236" cy="1040924"/>
          </a:xfrm>
          <a:prstGeom prst="rect">
            <a:avLst/>
          </a:prstGeom>
        </p:spPr>
      </p:pic>
      <p:sp>
        <p:nvSpPr>
          <p:cNvPr id="79" name="Text 75"/>
          <p:cNvSpPr/>
          <p:nvPr/>
        </p:nvSpPr>
        <p:spPr>
          <a:xfrm>
            <a:off x="6890004" y="5091716"/>
            <a:ext cx="19979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A66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품질 정량 평가 및 개선 대상 검출</a:t>
            </a:r>
            <a:endParaRPr lang="en-US" sz="740" dirty="0"/>
          </a:p>
        </p:txBody>
      </p:sp>
      <p:sp>
        <p:nvSpPr>
          <p:cNvPr id="80" name="Shape 76"/>
          <p:cNvSpPr/>
          <p:nvPr/>
        </p:nvSpPr>
        <p:spPr>
          <a:xfrm>
            <a:off x="6931152" y="5352320"/>
            <a:ext cx="1915668" cy="10683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pic>
        <p:nvPicPr>
          <p:cNvPr id="81" name="Image 2" descr="/tmp/t_s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68" y="5366036"/>
            <a:ext cx="1888236" cy="1040924"/>
          </a:xfrm>
          <a:prstGeom prst="rect">
            <a:avLst/>
          </a:prstGeom>
        </p:spPr>
      </p:pic>
      <p:sp>
        <p:nvSpPr>
          <p:cNvPr id="82" name="Text 77"/>
          <p:cNvSpPr/>
          <p:nvPr/>
        </p:nvSpPr>
        <p:spPr>
          <a:xfrm>
            <a:off x="6890004" y="6425248"/>
            <a:ext cx="19979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A66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완료 콘텐츠 자동 배포</a:t>
            </a:r>
            <a:endParaRPr lang="en-US" sz="740" dirty="0"/>
          </a:p>
        </p:txBody>
      </p:sp>
      <p:sp>
        <p:nvSpPr>
          <p:cNvPr id="83" name="Shape 78"/>
          <p:cNvSpPr/>
          <p:nvPr/>
        </p:nvSpPr>
        <p:spPr>
          <a:xfrm>
            <a:off x="4677156" y="5352320"/>
            <a:ext cx="1915668" cy="10683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pic>
        <p:nvPicPr>
          <p:cNvPr id="84" name="Image 3" descr="/tmp/t_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5366036"/>
            <a:ext cx="1888236" cy="1040924"/>
          </a:xfrm>
          <a:prstGeom prst="rect">
            <a:avLst/>
          </a:prstGeom>
        </p:spPr>
      </p:pic>
      <p:sp>
        <p:nvSpPr>
          <p:cNvPr id="85" name="Text 79"/>
          <p:cNvSpPr/>
          <p:nvPr/>
        </p:nvSpPr>
        <p:spPr>
          <a:xfrm>
            <a:off x="4636008" y="6425248"/>
            <a:ext cx="19979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A66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사용자 열람 화면 (통합 포털)</a:t>
            </a:r>
            <a:endParaRPr lang="en-US" sz="740" dirty="0"/>
          </a:p>
        </p:txBody>
      </p:sp>
      <p:sp>
        <p:nvSpPr>
          <p:cNvPr id="86" name="Shape 80"/>
          <p:cNvSpPr/>
          <p:nvPr/>
        </p:nvSpPr>
        <p:spPr>
          <a:xfrm>
            <a:off x="6620256" y="4479814"/>
            <a:ext cx="283464" cy="146304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6620256" y="5813346"/>
            <a:ext cx="283464" cy="146304"/>
          </a:xfrm>
          <a:prstGeom prst="leftArrow">
            <a:avLst/>
          </a:prstGeom>
          <a:solidFill>
            <a:srgbClr val="0E9A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7788402" y="5242592"/>
            <a:ext cx="201168" cy="118872"/>
          </a:xfrm>
          <a:prstGeom prst="downArrow">
            <a:avLst/>
          </a:prstGeom>
          <a:solidFill>
            <a:srgbClr val="0E9A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310896" y="6638544"/>
            <a:ext cx="8522208" cy="18288"/>
          </a:xfrm>
          <a:prstGeom prst="rect">
            <a:avLst/>
          </a:prstGeom>
          <a:solidFill>
            <a:srgbClr val="E3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310896" y="6656832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가이드 포털 · 자동 운영 체계</a:t>
            </a:r>
            <a:endParaRPr lang="en-US" sz="800" dirty="0"/>
          </a:p>
        </p:txBody>
      </p:sp>
      <p:sp>
        <p:nvSpPr>
          <p:cNvPr id="91" name="Text 85"/>
          <p:cNvSpPr/>
          <p:nvPr/>
        </p:nvSpPr>
        <p:spPr>
          <a:xfrm>
            <a:off x="5943600" y="6656832"/>
            <a:ext cx="2889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FC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 CHANGE FOR 2030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과제 요약서</dc:title>
  <dc:subject>PptxGenJS Presentation</dc:subject>
  <dc:creator>AI Guide</dc:creator>
  <cp:lastModifiedBy>AI Guide</cp:lastModifiedBy>
  <cp:revision>1</cp:revision>
  <dcterms:created xsi:type="dcterms:W3CDTF">2026-08-26T04:59:20Z</dcterms:created>
  <dcterms:modified xsi:type="dcterms:W3CDTF">2026-08-26T04:59:20Z</dcterms:modified>
</cp:coreProperties>
</file>