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0896" y="146304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▣ </a:t>
            </a:r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과제 요약서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10896" y="603504"/>
            <a:ext cx="8522208" cy="32004"/>
          </a:xfrm>
          <a:prstGeom prst="rect">
            <a:avLst/>
          </a:prstGeom>
          <a:solidFill>
            <a:srgbClr val="BFC5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10896" y="758952"/>
            <a:ext cx="960120" cy="274320"/>
          </a:xfrm>
          <a:prstGeom prst="rect">
            <a:avLst/>
          </a:prstGeom>
          <a:solidFill>
            <a:srgbClr val="E9ECEF"/>
          </a:solidFill>
          <a:ln w="9525">
            <a:solidFill>
              <a:srgbClr val="C9CFD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9184" y="758952"/>
            <a:ext cx="923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정의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10896" y="1088136"/>
            <a:ext cx="1078992" cy="292608"/>
          </a:xfrm>
          <a:prstGeom prst="rect">
            <a:avLst/>
          </a:prstGeom>
          <a:solidFill>
            <a:srgbClr val="D9D9D9"/>
          </a:solidFill>
          <a:ln w="9525">
            <a:solidFill>
              <a:srgbClr val="9AA3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10896" y="1088136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과제명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389888" y="1088136"/>
            <a:ext cx="7443216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9AA3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81328" y="1088136"/>
            <a:ext cx="7260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ct val="112000"/>
              </a:lnSpc>
              <a:buSzPct val="100000"/>
              <a:buChar char="•"/>
            </a:pPr>
            <a:r>
              <a:rPr lang="en-US" sz="900" b="1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AI 활용 가이드 포털 구축 및 자동 운영 체계 개발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10896" y="1380744"/>
            <a:ext cx="1078992" cy="402336"/>
          </a:xfrm>
          <a:prstGeom prst="rect">
            <a:avLst/>
          </a:prstGeom>
          <a:solidFill>
            <a:srgbClr val="D9D9D9"/>
          </a:solidFill>
          <a:ln w="9525">
            <a:solidFill>
              <a:srgbClr val="9AA3A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0896" y="1380744"/>
            <a:ext cx="10789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목적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389888" y="1380744"/>
            <a:ext cx="7443216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9AA3A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481328" y="1380744"/>
            <a:ext cx="7260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직군·수준별로 분산된 생성형 AI 활용 지식을 한국어 실무 기준으로 표준화하고, 콘텐츠 수집·작성·검증·배포 전 과정을 AI 에이전트가 자동 수행하도록 하여 최신성이 유지되는 운영 체계를 구축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10896" y="1783080"/>
            <a:ext cx="1078992" cy="603504"/>
          </a:xfrm>
          <a:prstGeom prst="rect">
            <a:avLst/>
          </a:prstGeom>
          <a:solidFill>
            <a:srgbClr val="D9D9D9"/>
          </a:solidFill>
          <a:ln w="9525">
            <a:solidFill>
              <a:srgbClr val="9AA3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10896" y="1783080"/>
            <a:ext cx="1078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추진 배경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1389888" y="1783080"/>
            <a:ext cx="7443216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9AA3A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481328" y="1783080"/>
            <a:ext cx="72603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생성형 AI 도구·기능의 변경 주기가 짧아 사내 교육자료가 작성 시점부터 노후화되며, 갱신 담당자를 지정하더라도 인력·시간의 지속 투입이 불가피</a:t>
            </a:r>
            <a:endParaRPr lang="en-US" sz="900" dirty="0"/>
          </a:p>
          <a:p>
            <a:pPr marL="127000" indent="-1270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공개 자료 대부분이 영문·개발자(터미널) 환경 기준이라, 윈도우 PC와 웹·앱 환경의 실무 직원이 직접 적용하기 곤란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10896" y="2386584"/>
            <a:ext cx="1078992" cy="292608"/>
          </a:xfrm>
          <a:prstGeom prst="rect">
            <a:avLst/>
          </a:prstGeom>
          <a:solidFill>
            <a:srgbClr val="D9D9D9"/>
          </a:solidFill>
          <a:ln w="9525">
            <a:solidFill>
              <a:srgbClr val="9AA3A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10896" y="2386584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수행조직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389888" y="2386584"/>
            <a:ext cx="3310128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9AA3A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499616" y="2386584"/>
            <a:ext cx="3127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수행조직 입력 ]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0016" y="2386584"/>
            <a:ext cx="1005840" cy="292608"/>
          </a:xfrm>
          <a:prstGeom prst="rect">
            <a:avLst/>
          </a:prstGeom>
          <a:solidFill>
            <a:srgbClr val="D9D9D9"/>
          </a:solidFill>
          <a:ln w="9525">
            <a:solidFill>
              <a:srgbClr val="9AA3A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00016" y="238658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705856" y="2386584"/>
            <a:ext cx="3127248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9AA3A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815584" y="2386584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담당자 입력 ]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10896" y="2816352"/>
            <a:ext cx="960120" cy="274320"/>
          </a:xfrm>
          <a:prstGeom prst="rect">
            <a:avLst/>
          </a:prstGeom>
          <a:solidFill>
            <a:srgbClr val="E9ECEF"/>
          </a:solidFill>
          <a:ln w="9525">
            <a:solidFill>
              <a:srgbClr val="C9CFD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9184" y="2816352"/>
            <a:ext cx="923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해결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690872" y="2816352"/>
            <a:ext cx="2103120" cy="274320"/>
          </a:xfrm>
          <a:prstGeom prst="rect">
            <a:avLst/>
          </a:prstGeom>
          <a:solidFill>
            <a:srgbClr val="E9ECEF"/>
          </a:solidFill>
          <a:ln w="9525">
            <a:solidFill>
              <a:srgbClr val="C9CFD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09160" y="2816352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 결과(Output 이미지)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310896" y="3172968"/>
            <a:ext cx="4160520" cy="3410712"/>
          </a:xfrm>
          <a:prstGeom prst="roundRect">
            <a:avLst>
              <a:gd name="adj" fmla="val 804"/>
            </a:avLst>
          </a:prstGeom>
          <a:solidFill>
            <a:srgbClr val="FCFDFE"/>
          </a:solidFill>
          <a:ln w="9525">
            <a:solidFill>
              <a:srgbClr val="C9CF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8912" y="3296412"/>
            <a:ext cx="50292" cy="141732"/>
          </a:xfrm>
          <a:prstGeom prst="rect">
            <a:avLst/>
          </a:prstGeom>
          <a:solidFill>
            <a:srgbClr val="0E9A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3264408"/>
            <a:ext cx="3794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How to — 어떻게 해결하였는지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48640" y="3502152"/>
            <a:ext cx="373989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82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가이드를 정적 문서가 아닌 자동 갱신 체계로 설계. 콘텐츠 분류체계와 집필 기준을 기계 판독이 가능한 표준 문서로 정의하고, AI 에이전트가 이를 참조하여 결손 영역을 자동 보완</a:t>
            </a:r>
            <a:endParaRPr lang="en-US" sz="820" dirty="0"/>
          </a:p>
          <a:p>
            <a:pPr marL="127000" indent="-1270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82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품질 관리를 정성 판단에서 정량 지표로 전환. 8개 평가 항목을 코드로 고정하여 전 섹션을 자동 채점하고, 하위 점수 항목을 차기 개선 대상으로 자동 선정</a:t>
            </a:r>
            <a:endParaRPr lang="en-US" sz="820" dirty="0"/>
          </a:p>
          <a:p>
            <a:pPr marL="127000" indent="-1270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82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사실 오류는 별도 검증 에이전트가 공식 문서·원문 출처와 교차 검증하여 승인·수정·보류를 판정하며, 배포 직전 재평가로 품질 저하를 방지</a:t>
            </a:r>
            <a:endParaRPr lang="en-US" sz="820" dirty="0"/>
          </a:p>
        </p:txBody>
      </p:sp>
      <p:sp>
        <p:nvSpPr>
          <p:cNvPr id="34" name="Shape 32"/>
          <p:cNvSpPr/>
          <p:nvPr/>
        </p:nvSpPr>
        <p:spPr>
          <a:xfrm>
            <a:off x="438912" y="4466844"/>
            <a:ext cx="50292" cy="141732"/>
          </a:xfrm>
          <a:prstGeom prst="rect">
            <a:avLst/>
          </a:prstGeom>
          <a:solidFill>
            <a:srgbClr val="0E9A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4434840"/>
            <a:ext cx="3794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추진 단계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57784" y="4674413"/>
            <a:ext cx="141732" cy="141732"/>
          </a:xfrm>
          <a:prstGeom prst="ellipse">
            <a:avLst/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7784" y="4674413"/>
            <a:ext cx="141732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749808" y="4663440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체계 설계 : 13개 분류 영역 및 난이도 3단계 기준 정의</a:t>
            </a:r>
            <a:endParaRPr lang="en-US" sz="820" dirty="0"/>
          </a:p>
        </p:txBody>
      </p:sp>
      <p:sp>
        <p:nvSpPr>
          <p:cNvPr id="39" name="Shape 37"/>
          <p:cNvSpPr/>
          <p:nvPr/>
        </p:nvSpPr>
        <p:spPr>
          <a:xfrm>
            <a:off x="557784" y="4844491"/>
            <a:ext cx="141732" cy="141732"/>
          </a:xfrm>
          <a:prstGeom prst="ellipse">
            <a:avLst/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7784" y="4844491"/>
            <a:ext cx="141732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749808" y="4833518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콘텐츠 구축 : 입문~심화 7개 영역 개설</a:t>
            </a:r>
            <a:endParaRPr lang="en-US" sz="820" dirty="0"/>
          </a:p>
        </p:txBody>
      </p:sp>
      <p:sp>
        <p:nvSpPr>
          <p:cNvPr id="42" name="Shape 40"/>
          <p:cNvSpPr/>
          <p:nvPr/>
        </p:nvSpPr>
        <p:spPr>
          <a:xfrm>
            <a:off x="557784" y="5014570"/>
            <a:ext cx="141732" cy="141732"/>
          </a:xfrm>
          <a:prstGeom prst="ellipse">
            <a:avLst/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7784" y="5014570"/>
            <a:ext cx="141732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749808" y="5003597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자동화 체계 구축 : 수집 → 진단 → 작성 → 검증 → 배포</a:t>
            </a:r>
            <a:endParaRPr lang="en-US" sz="820" dirty="0"/>
          </a:p>
        </p:txBody>
      </p:sp>
      <p:sp>
        <p:nvSpPr>
          <p:cNvPr id="45" name="Shape 43"/>
          <p:cNvSpPr/>
          <p:nvPr/>
        </p:nvSpPr>
        <p:spPr>
          <a:xfrm>
            <a:off x="557784" y="5184648"/>
            <a:ext cx="141732" cy="141732"/>
          </a:xfrm>
          <a:prstGeom prst="ellipse">
            <a:avLst/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7784" y="5184648"/>
            <a:ext cx="141732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749808" y="5173675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품질 관리체계 도입 : 정량 평가 및 개선 우선순위 도출</a:t>
            </a:r>
            <a:endParaRPr lang="en-US" sz="820" dirty="0"/>
          </a:p>
        </p:txBody>
      </p:sp>
      <p:sp>
        <p:nvSpPr>
          <p:cNvPr id="48" name="Shape 46"/>
          <p:cNvSpPr/>
          <p:nvPr/>
        </p:nvSpPr>
        <p:spPr>
          <a:xfrm>
            <a:off x="557784" y="5354726"/>
            <a:ext cx="141732" cy="141732"/>
          </a:xfrm>
          <a:prstGeom prst="ellipse">
            <a:avLst/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57784" y="5354726"/>
            <a:ext cx="141732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749808" y="5343754"/>
            <a:ext cx="3538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 환경 표준화 : 윈도우·웹/앱 기준 전환, 미준수 항목 자동 검출</a:t>
            </a:r>
            <a:endParaRPr lang="en-US" sz="820" dirty="0"/>
          </a:p>
        </p:txBody>
      </p:sp>
      <p:sp>
        <p:nvSpPr>
          <p:cNvPr id="51" name="Shape 49"/>
          <p:cNvSpPr/>
          <p:nvPr/>
        </p:nvSpPr>
        <p:spPr>
          <a:xfrm>
            <a:off x="438912" y="5618988"/>
            <a:ext cx="50292" cy="141732"/>
          </a:xfrm>
          <a:prstGeom prst="rect">
            <a:avLst/>
          </a:prstGeom>
          <a:solidFill>
            <a:srgbClr val="0E9A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8640" y="5586984"/>
            <a:ext cx="3794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적용 기술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548640" y="5815584"/>
            <a:ext cx="1796796" cy="214884"/>
          </a:xfrm>
          <a:prstGeom prst="roundRect">
            <a:avLst>
              <a:gd name="adj" fmla="val 8511"/>
            </a:avLst>
          </a:prstGeom>
          <a:solidFill>
            <a:srgbClr val="EAF4F5"/>
          </a:solidFill>
          <a:ln w="7620">
            <a:solidFill>
              <a:srgbClr val="AFD5D9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85216" y="5815584"/>
            <a:ext cx="17236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161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다중 AI 에이전트 오케스트레이션</a:t>
            </a:r>
            <a:endParaRPr lang="en-US" sz="740" dirty="0"/>
          </a:p>
        </p:txBody>
      </p:sp>
      <p:sp>
        <p:nvSpPr>
          <p:cNvPr id="55" name="Shape 53"/>
          <p:cNvSpPr/>
          <p:nvPr/>
        </p:nvSpPr>
        <p:spPr>
          <a:xfrm>
            <a:off x="2436876" y="5815584"/>
            <a:ext cx="1796796" cy="214884"/>
          </a:xfrm>
          <a:prstGeom prst="roundRect">
            <a:avLst>
              <a:gd name="adj" fmla="val 8511"/>
            </a:avLst>
          </a:prstGeom>
          <a:solidFill>
            <a:srgbClr val="EAF4F5"/>
          </a:solidFill>
          <a:ln w="7620">
            <a:solidFill>
              <a:srgbClr val="AFD5D9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473452" y="5815584"/>
            <a:ext cx="17236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161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교차 검증 에이전트 (LLM-as-a-Judge)</a:t>
            </a:r>
            <a:endParaRPr lang="en-US" sz="740" dirty="0"/>
          </a:p>
        </p:txBody>
      </p:sp>
      <p:sp>
        <p:nvSpPr>
          <p:cNvPr id="57" name="Shape 55"/>
          <p:cNvSpPr/>
          <p:nvPr/>
        </p:nvSpPr>
        <p:spPr>
          <a:xfrm>
            <a:off x="548640" y="6048756"/>
            <a:ext cx="1796796" cy="214884"/>
          </a:xfrm>
          <a:prstGeom prst="roundRect">
            <a:avLst>
              <a:gd name="adj" fmla="val 8511"/>
            </a:avLst>
          </a:prstGeom>
          <a:solidFill>
            <a:srgbClr val="EAF4F5"/>
          </a:solidFill>
          <a:ln w="7620">
            <a:solidFill>
              <a:srgbClr val="AFD5D9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85216" y="6048756"/>
            <a:ext cx="17236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161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에이전트 정기 실행 (스케줄링)</a:t>
            </a:r>
            <a:endParaRPr lang="en-US" sz="740" dirty="0"/>
          </a:p>
        </p:txBody>
      </p:sp>
      <p:sp>
        <p:nvSpPr>
          <p:cNvPr id="59" name="Shape 57"/>
          <p:cNvSpPr/>
          <p:nvPr/>
        </p:nvSpPr>
        <p:spPr>
          <a:xfrm>
            <a:off x="2436876" y="6048756"/>
            <a:ext cx="1796796" cy="214884"/>
          </a:xfrm>
          <a:prstGeom prst="roundRect">
            <a:avLst>
              <a:gd name="adj" fmla="val 8511"/>
            </a:avLst>
          </a:prstGeom>
          <a:solidFill>
            <a:srgbClr val="EAF4F5"/>
          </a:solidFill>
          <a:ln w="7620">
            <a:solidFill>
              <a:srgbClr val="AFD5D9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473452" y="6048756"/>
            <a:ext cx="17236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161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웹 검색 기반 근거 수집·출처 검증</a:t>
            </a:r>
            <a:endParaRPr lang="en-US" sz="740" dirty="0"/>
          </a:p>
        </p:txBody>
      </p:sp>
      <p:sp>
        <p:nvSpPr>
          <p:cNvPr id="61" name="Shape 59"/>
          <p:cNvSpPr/>
          <p:nvPr/>
        </p:nvSpPr>
        <p:spPr>
          <a:xfrm>
            <a:off x="548640" y="6281928"/>
            <a:ext cx="1796796" cy="214884"/>
          </a:xfrm>
          <a:prstGeom prst="roundRect">
            <a:avLst>
              <a:gd name="adj" fmla="val 8511"/>
            </a:avLst>
          </a:prstGeom>
          <a:solidFill>
            <a:srgbClr val="EAF4F5"/>
          </a:solidFill>
          <a:ln w="7620">
            <a:solidFill>
              <a:srgbClr val="AFD5D9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85216" y="6281928"/>
            <a:ext cx="17236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161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기반 컨텍스트 설계</a:t>
            </a:r>
            <a:endParaRPr lang="en-US" sz="740" dirty="0"/>
          </a:p>
        </p:txBody>
      </p:sp>
      <p:sp>
        <p:nvSpPr>
          <p:cNvPr id="63" name="Shape 61"/>
          <p:cNvSpPr/>
          <p:nvPr/>
        </p:nvSpPr>
        <p:spPr>
          <a:xfrm>
            <a:off x="2436876" y="6281928"/>
            <a:ext cx="1796796" cy="214884"/>
          </a:xfrm>
          <a:prstGeom prst="roundRect">
            <a:avLst>
              <a:gd name="adj" fmla="val 8511"/>
            </a:avLst>
          </a:prstGeom>
          <a:solidFill>
            <a:srgbClr val="EAF4F5"/>
          </a:solidFill>
          <a:ln w="7620">
            <a:solidFill>
              <a:srgbClr val="AFD5D9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473452" y="6281928"/>
            <a:ext cx="17236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161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정량 평가 지표 기반 자동 채점</a:t>
            </a:r>
            <a:endParaRPr lang="en-US" sz="740" dirty="0"/>
          </a:p>
        </p:txBody>
      </p:sp>
      <p:sp>
        <p:nvSpPr>
          <p:cNvPr id="65" name="Shape 63"/>
          <p:cNvSpPr/>
          <p:nvPr/>
        </p:nvSpPr>
        <p:spPr>
          <a:xfrm>
            <a:off x="4690872" y="3172968"/>
            <a:ext cx="566928" cy="749808"/>
          </a:xfrm>
          <a:prstGeom prst="rect">
            <a:avLst/>
          </a:prstGeom>
          <a:solidFill>
            <a:srgbClr val="D9D9D9"/>
          </a:solidFill>
          <a:ln w="9525">
            <a:solidFill>
              <a:srgbClr val="9AA3AD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690872" y="3172968"/>
            <a:ext cx="5669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</a:t>
            </a:r>
            <a:endParaRPr lang="en-US" sz="1050" dirty="0"/>
          </a:p>
        </p:txBody>
      </p:sp>
      <p:sp>
        <p:nvSpPr>
          <p:cNvPr id="67" name="Shape 65"/>
          <p:cNvSpPr/>
          <p:nvPr/>
        </p:nvSpPr>
        <p:spPr>
          <a:xfrm>
            <a:off x="5257800" y="3172968"/>
            <a:ext cx="3575304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9AA3AD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349240" y="3172968"/>
            <a:ext cx="33924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8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최신성 : </a:t>
            </a:r>
            <a:pPr indent="0" marL="0">
              <a:lnSpc>
                <a:spcPct val="110000"/>
              </a:lnSpc>
              <a:buNone/>
            </a:pPr>
            <a:r>
              <a:rPr lang="en-US" sz="78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수작업 개입 없이 일 단위 자동 갱신되어 교육자료 노후화 문제 해소</a:t>
            </a:r>
            <a:endParaRPr lang="en-US" sz="78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8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접근성 : </a:t>
            </a:r>
            <a:pPr indent="0" marL="0">
              <a:lnSpc>
                <a:spcPct val="110000"/>
              </a:lnSpc>
              <a:buNone/>
            </a:pPr>
            <a:r>
              <a:rPr lang="en-US" sz="78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윈도우·웹/앱 환경 기준으로 재정렬하여 비개발 직군의 직접 활용 가능</a:t>
            </a:r>
            <a:endParaRPr lang="en-US" sz="78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80" b="1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일관성 : </a:t>
            </a:r>
            <a:pPr indent="0" marL="0">
              <a:lnSpc>
                <a:spcPct val="110000"/>
              </a:lnSpc>
              <a:buNone/>
            </a:pPr>
            <a:r>
              <a:rPr lang="en-US" sz="780" dirty="0">
                <a:solidFill>
                  <a:srgbClr val="22222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품질의 정량 관리로 담당자 변경 시에도 산출물 수준 유지</a:t>
            </a:r>
            <a:endParaRPr lang="en-US" sz="780" dirty="0"/>
          </a:p>
        </p:txBody>
      </p:sp>
      <p:sp>
        <p:nvSpPr>
          <p:cNvPr id="69" name="Shape 67"/>
          <p:cNvSpPr/>
          <p:nvPr/>
        </p:nvSpPr>
        <p:spPr>
          <a:xfrm>
            <a:off x="4745736" y="4018788"/>
            <a:ext cx="1847088" cy="1030550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6"/>
            </a:solidFill>
            <a:prstDash val="solid"/>
          </a:ln>
        </p:spPr>
      </p:sp>
      <p:pic>
        <p:nvPicPr>
          <p:cNvPr id="70" name="Image 0" descr="/tmp/t_updat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9452" y="4032504"/>
            <a:ext cx="1819656" cy="1003118"/>
          </a:xfrm>
          <a:prstGeom prst="rect">
            <a:avLst/>
          </a:prstGeom>
        </p:spPr>
      </p:pic>
      <p:sp>
        <p:nvSpPr>
          <p:cNvPr id="71" name="Text 68"/>
          <p:cNvSpPr/>
          <p:nvPr/>
        </p:nvSpPr>
        <p:spPr>
          <a:xfrm>
            <a:off x="4704588" y="5053910"/>
            <a:ext cx="19293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dirty="0">
                <a:solidFill>
                  <a:srgbClr val="5A66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일 단위 AI 동향 자동 수집·검증</a:t>
            </a:r>
            <a:endParaRPr lang="en-US" sz="740" dirty="0"/>
          </a:p>
        </p:txBody>
      </p:sp>
      <p:sp>
        <p:nvSpPr>
          <p:cNvPr id="72" name="Shape 69"/>
          <p:cNvSpPr/>
          <p:nvPr/>
        </p:nvSpPr>
        <p:spPr>
          <a:xfrm>
            <a:off x="6931152" y="4018788"/>
            <a:ext cx="1847088" cy="1030550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6"/>
            </a:solidFill>
            <a:prstDash val="solid"/>
          </a:ln>
        </p:spPr>
      </p:sp>
      <p:pic>
        <p:nvPicPr>
          <p:cNvPr id="73" name="Image 1" descr="/tmp/t_repo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4868" y="4032504"/>
            <a:ext cx="1819656" cy="1003118"/>
          </a:xfrm>
          <a:prstGeom prst="rect">
            <a:avLst/>
          </a:prstGeom>
        </p:spPr>
      </p:pic>
      <p:sp>
        <p:nvSpPr>
          <p:cNvPr id="74" name="Text 70"/>
          <p:cNvSpPr/>
          <p:nvPr/>
        </p:nvSpPr>
        <p:spPr>
          <a:xfrm>
            <a:off x="6890004" y="5053910"/>
            <a:ext cx="19293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dirty="0">
                <a:solidFill>
                  <a:srgbClr val="5A66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품질 정량 평가 및 개선 대상 검출</a:t>
            </a:r>
            <a:endParaRPr lang="en-US" sz="740" dirty="0"/>
          </a:p>
        </p:txBody>
      </p:sp>
      <p:sp>
        <p:nvSpPr>
          <p:cNvPr id="75" name="Shape 71"/>
          <p:cNvSpPr/>
          <p:nvPr/>
        </p:nvSpPr>
        <p:spPr>
          <a:xfrm>
            <a:off x="6931152" y="5314514"/>
            <a:ext cx="1847088" cy="1030550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6"/>
            </a:solidFill>
            <a:prstDash val="solid"/>
          </a:ln>
        </p:spPr>
      </p:sp>
      <p:pic>
        <p:nvPicPr>
          <p:cNvPr id="76" name="Image 2" descr="/tmp/t_sec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4868" y="5328230"/>
            <a:ext cx="1819656" cy="1003118"/>
          </a:xfrm>
          <a:prstGeom prst="rect">
            <a:avLst/>
          </a:prstGeom>
        </p:spPr>
      </p:pic>
      <p:sp>
        <p:nvSpPr>
          <p:cNvPr id="77" name="Text 72"/>
          <p:cNvSpPr/>
          <p:nvPr/>
        </p:nvSpPr>
        <p:spPr>
          <a:xfrm>
            <a:off x="6890004" y="6349636"/>
            <a:ext cx="19293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dirty="0">
                <a:solidFill>
                  <a:srgbClr val="5A66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검증 완료 콘텐츠 자동 배포</a:t>
            </a:r>
            <a:endParaRPr lang="en-US" sz="740" dirty="0"/>
          </a:p>
        </p:txBody>
      </p:sp>
      <p:sp>
        <p:nvSpPr>
          <p:cNvPr id="78" name="Shape 73"/>
          <p:cNvSpPr/>
          <p:nvPr/>
        </p:nvSpPr>
        <p:spPr>
          <a:xfrm>
            <a:off x="4745736" y="5314514"/>
            <a:ext cx="1847088" cy="1030550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6"/>
            </a:solidFill>
            <a:prstDash val="solid"/>
          </a:ln>
        </p:spPr>
      </p:sp>
      <p:pic>
        <p:nvPicPr>
          <p:cNvPr id="79" name="Image 3" descr="/tmp/t_ho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9452" y="5328230"/>
            <a:ext cx="1819656" cy="1003118"/>
          </a:xfrm>
          <a:prstGeom prst="rect">
            <a:avLst/>
          </a:prstGeom>
        </p:spPr>
      </p:pic>
      <p:sp>
        <p:nvSpPr>
          <p:cNvPr id="80" name="Text 74"/>
          <p:cNvSpPr/>
          <p:nvPr/>
        </p:nvSpPr>
        <p:spPr>
          <a:xfrm>
            <a:off x="4704588" y="6349636"/>
            <a:ext cx="19293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dirty="0">
                <a:solidFill>
                  <a:srgbClr val="5A66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사용자 열람 화면 (통합 포털)</a:t>
            </a:r>
            <a:endParaRPr lang="en-US" sz="740" dirty="0"/>
          </a:p>
        </p:txBody>
      </p:sp>
      <p:sp>
        <p:nvSpPr>
          <p:cNvPr id="81" name="Shape 75"/>
          <p:cNvSpPr/>
          <p:nvPr/>
        </p:nvSpPr>
        <p:spPr>
          <a:xfrm>
            <a:off x="6620256" y="4460911"/>
            <a:ext cx="283464" cy="146304"/>
          </a:xfrm>
          <a:prstGeom prst="rightArrow">
            <a:avLst/>
          </a:prstGeom>
          <a:solidFill>
            <a:srgbClr val="0E9A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2" name="Shape 76"/>
          <p:cNvSpPr/>
          <p:nvPr/>
        </p:nvSpPr>
        <p:spPr>
          <a:xfrm>
            <a:off x="6620256" y="5756637"/>
            <a:ext cx="283464" cy="146304"/>
          </a:xfrm>
          <a:prstGeom prst="leftArrow">
            <a:avLst/>
          </a:prstGeom>
          <a:solidFill>
            <a:srgbClr val="0E9A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3" name="Shape 77"/>
          <p:cNvSpPr/>
          <p:nvPr/>
        </p:nvSpPr>
        <p:spPr>
          <a:xfrm>
            <a:off x="7754112" y="5204786"/>
            <a:ext cx="201168" cy="118872"/>
          </a:xfrm>
          <a:prstGeom prst="downArrow">
            <a:avLst/>
          </a:prstGeom>
          <a:solidFill>
            <a:srgbClr val="0E9A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4" name="Shape 78"/>
          <p:cNvSpPr/>
          <p:nvPr/>
        </p:nvSpPr>
        <p:spPr>
          <a:xfrm>
            <a:off x="310896" y="6638544"/>
            <a:ext cx="8522208" cy="18288"/>
          </a:xfrm>
          <a:prstGeom prst="rect">
            <a:avLst/>
          </a:prstGeom>
          <a:solidFill>
            <a:srgbClr val="E3E7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5" name="Text 79"/>
          <p:cNvSpPr/>
          <p:nvPr/>
        </p:nvSpPr>
        <p:spPr>
          <a:xfrm>
            <a:off x="310896" y="6656832"/>
            <a:ext cx="4572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활용 가이드 포털 · 자동 운영 체계</a:t>
            </a:r>
            <a:endParaRPr lang="en-US" sz="800" dirty="0"/>
          </a:p>
        </p:txBody>
      </p:sp>
      <p:sp>
        <p:nvSpPr>
          <p:cNvPr id="86" name="Text 80"/>
          <p:cNvSpPr/>
          <p:nvPr/>
        </p:nvSpPr>
        <p:spPr>
          <a:xfrm>
            <a:off x="5943600" y="6656832"/>
            <a:ext cx="28895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FC5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DRIVE CHANGE FOR 2030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과제 요약서</dc:title>
  <dc:subject>PptxGenJS Presentation</dc:subject>
  <dc:creator>AI Guide</dc:creator>
  <cp:lastModifiedBy>AI Guide</cp:lastModifiedBy>
  <cp:revision>1</cp:revision>
  <dcterms:created xsi:type="dcterms:W3CDTF">2026-08-25T08:26:32Z</dcterms:created>
  <dcterms:modified xsi:type="dcterms:W3CDTF">2026-08-25T08:26:32Z</dcterms:modified>
</cp:coreProperties>
</file>